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grandir Grand" charset="1" panose="00000507000000000000"/>
      <p:regular r:id="rId14"/>
    </p:embeddedFon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Poppins Italic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63181" y="-2174277"/>
            <a:ext cx="6405953" cy="6405953"/>
          </a:xfrm>
          <a:custGeom>
            <a:avLst/>
            <a:gdLst/>
            <a:ahLst/>
            <a:cxnLst/>
            <a:rect r="r" b="b" t="t" l="l"/>
            <a:pathLst>
              <a:path h="6405953" w="6405953">
                <a:moveTo>
                  <a:pt x="0" y="0"/>
                </a:moveTo>
                <a:lnTo>
                  <a:pt x="6405954" y="0"/>
                </a:lnTo>
                <a:lnTo>
                  <a:pt x="6405954" y="6405954"/>
                </a:lnTo>
                <a:lnTo>
                  <a:pt x="0" y="6405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54582" y="1390183"/>
            <a:ext cx="5390070" cy="5390070"/>
          </a:xfrm>
          <a:custGeom>
            <a:avLst/>
            <a:gdLst/>
            <a:ahLst/>
            <a:cxnLst/>
            <a:rect r="r" b="b" t="t" l="l"/>
            <a:pathLst>
              <a:path h="5390070" w="5390070">
                <a:moveTo>
                  <a:pt x="0" y="0"/>
                </a:moveTo>
                <a:lnTo>
                  <a:pt x="5390070" y="0"/>
                </a:lnTo>
                <a:lnTo>
                  <a:pt x="5390070" y="5390070"/>
                </a:lnTo>
                <a:lnTo>
                  <a:pt x="0" y="53900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9614" y="5230915"/>
            <a:ext cx="1549338" cy="1549338"/>
          </a:xfrm>
          <a:custGeom>
            <a:avLst/>
            <a:gdLst/>
            <a:ahLst/>
            <a:cxnLst/>
            <a:rect r="r" b="b" t="t" l="l"/>
            <a:pathLst>
              <a:path h="1549338" w="1549338">
                <a:moveTo>
                  <a:pt x="0" y="0"/>
                </a:moveTo>
                <a:lnTo>
                  <a:pt x="1549338" y="0"/>
                </a:lnTo>
                <a:lnTo>
                  <a:pt x="1549338" y="1549338"/>
                </a:lnTo>
                <a:lnTo>
                  <a:pt x="0" y="1549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903270" y="1824363"/>
            <a:ext cx="3645748" cy="9386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449048" y="2555326"/>
            <a:ext cx="13117794" cy="2588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7"/>
              </a:lnSpc>
            </a:pPr>
            <a:r>
              <a:rPr lang="en-US" sz="6207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AI-POWERED INTELLIGENT STUDENT SUPPORT SYSTEM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2708" y="5331431"/>
            <a:ext cx="7125139" cy="929374"/>
            <a:chOff x="0" y="0"/>
            <a:chExt cx="9500185" cy="123916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Team Lead -  Swetha Battula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939144" y="5331431"/>
            <a:ext cx="7463740" cy="1270271"/>
            <a:chOff x="0" y="0"/>
            <a:chExt cx="9951654" cy="169369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51654" cy="1693694"/>
              <a:chOff x="0" y="0"/>
              <a:chExt cx="2534252" cy="43131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534252" cy="431310"/>
              </a:xfrm>
              <a:custGeom>
                <a:avLst/>
                <a:gdLst/>
                <a:ahLst/>
                <a:cxnLst/>
                <a:rect r="r" b="b" t="t" l="l"/>
                <a:pathLst>
                  <a:path h="431310" w="2534252">
                    <a:moveTo>
                      <a:pt x="66215" y="0"/>
                    </a:moveTo>
                    <a:lnTo>
                      <a:pt x="2468037" y="0"/>
                    </a:lnTo>
                    <a:cubicBezTo>
                      <a:pt x="2485598" y="0"/>
                      <a:pt x="2502440" y="6976"/>
                      <a:pt x="2514858" y="19394"/>
                    </a:cubicBezTo>
                    <a:cubicBezTo>
                      <a:pt x="2527276" y="31811"/>
                      <a:pt x="2534252" y="48653"/>
                      <a:pt x="2534252" y="66215"/>
                    </a:cubicBezTo>
                    <a:lnTo>
                      <a:pt x="2534252" y="365095"/>
                    </a:lnTo>
                    <a:cubicBezTo>
                      <a:pt x="2534252" y="401665"/>
                      <a:pt x="2504607" y="431310"/>
                      <a:pt x="2468037" y="431310"/>
                    </a:cubicBezTo>
                    <a:lnTo>
                      <a:pt x="66215" y="431310"/>
                    </a:lnTo>
                    <a:cubicBezTo>
                      <a:pt x="48653" y="431310"/>
                      <a:pt x="31811" y="424334"/>
                      <a:pt x="19394" y="411916"/>
                    </a:cubicBezTo>
                    <a:cubicBezTo>
                      <a:pt x="6976" y="399499"/>
                      <a:pt x="0" y="382657"/>
                      <a:pt x="0" y="365095"/>
                    </a:cubicBezTo>
                    <a:lnTo>
                      <a:pt x="0" y="66215"/>
                    </a:lnTo>
                    <a:cubicBezTo>
                      <a:pt x="0" y="48653"/>
                      <a:pt x="6976" y="31811"/>
                      <a:pt x="19394" y="19394"/>
                    </a:cubicBezTo>
                    <a:cubicBezTo>
                      <a:pt x="31811" y="6976"/>
                      <a:pt x="48653" y="0"/>
                      <a:pt x="66215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57150"/>
                <a:ext cx="2534252" cy="488460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854537" y="365578"/>
              <a:ext cx="8715547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Implementation Planner - E Pravalika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42708" y="6469149"/>
            <a:ext cx="7125139" cy="929374"/>
            <a:chOff x="0" y="0"/>
            <a:chExt cx="9500185" cy="123916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Business Analyst - M Sai Kala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939144" y="6469149"/>
            <a:ext cx="7125139" cy="929374"/>
            <a:chOff x="0" y="0"/>
            <a:chExt cx="9500185" cy="1239165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Implementation Planner - P Pavan 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42708" y="7606866"/>
            <a:ext cx="7125139" cy="929374"/>
            <a:chOff x="0" y="0"/>
            <a:chExt cx="9500185" cy="1239165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Business Analyst - A Yamini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939144" y="7606866"/>
            <a:ext cx="7125139" cy="929374"/>
            <a:chOff x="0" y="0"/>
            <a:chExt cx="9500185" cy="1239165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Presenter - P Naga Sumanth 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42708" y="8745790"/>
            <a:ext cx="7125139" cy="929374"/>
            <a:chOff x="0" y="0"/>
            <a:chExt cx="9500185" cy="1239165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1" id="41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Solution Designer - V Swathi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8939144" y="8745790"/>
            <a:ext cx="7125139" cy="929374"/>
            <a:chOff x="0" y="0"/>
            <a:chExt cx="9500185" cy="1239165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9500185" cy="1239165"/>
              <a:chOff x="0" y="0"/>
              <a:chExt cx="2419283" cy="315561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419283" cy="315561"/>
              </a:xfrm>
              <a:custGeom>
                <a:avLst/>
                <a:gdLst/>
                <a:ahLst/>
                <a:cxnLst/>
                <a:rect r="r" b="b" t="t" l="l"/>
                <a:pathLst>
                  <a:path h="315561" w="2419283">
                    <a:moveTo>
                      <a:pt x="69361" y="0"/>
                    </a:moveTo>
                    <a:lnTo>
                      <a:pt x="2349921" y="0"/>
                    </a:lnTo>
                    <a:cubicBezTo>
                      <a:pt x="2368317" y="0"/>
                      <a:pt x="2385959" y="7308"/>
                      <a:pt x="2398967" y="20315"/>
                    </a:cubicBezTo>
                    <a:cubicBezTo>
                      <a:pt x="2411975" y="33323"/>
                      <a:pt x="2419283" y="50965"/>
                      <a:pt x="2419283" y="69361"/>
                    </a:cubicBezTo>
                    <a:lnTo>
                      <a:pt x="2419283" y="246200"/>
                    </a:lnTo>
                    <a:cubicBezTo>
                      <a:pt x="2419283" y="264596"/>
                      <a:pt x="2411975" y="282238"/>
                      <a:pt x="2398967" y="295246"/>
                    </a:cubicBezTo>
                    <a:cubicBezTo>
                      <a:pt x="2385959" y="308254"/>
                      <a:pt x="2368317" y="315561"/>
                      <a:pt x="2349921" y="315561"/>
                    </a:cubicBezTo>
                    <a:lnTo>
                      <a:pt x="69361" y="315561"/>
                    </a:lnTo>
                    <a:cubicBezTo>
                      <a:pt x="50965" y="315561"/>
                      <a:pt x="33323" y="308254"/>
                      <a:pt x="20315" y="295246"/>
                    </a:cubicBezTo>
                    <a:cubicBezTo>
                      <a:pt x="7308" y="282238"/>
                      <a:pt x="0" y="264596"/>
                      <a:pt x="0" y="246200"/>
                    </a:cubicBezTo>
                    <a:lnTo>
                      <a:pt x="0" y="69361"/>
                    </a:lnTo>
                    <a:cubicBezTo>
                      <a:pt x="0" y="50965"/>
                      <a:pt x="7308" y="33323"/>
                      <a:pt x="20315" y="20315"/>
                    </a:cubicBezTo>
                    <a:cubicBezTo>
                      <a:pt x="33323" y="7308"/>
                      <a:pt x="50965" y="0"/>
                      <a:pt x="6936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2419283" cy="372711"/>
              </a:xfrm>
              <a:prstGeom prst="rect">
                <a:avLst/>
              </a:prstGeom>
            </p:spPr>
            <p:txBody>
              <a:bodyPr anchor="ctr" rtlCol="false" tIns="52378" lIns="52378" bIns="52378" rIns="52378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46" id="46"/>
            <p:cNvSpPr txBox="true"/>
            <p:nvPr/>
          </p:nvSpPr>
          <p:spPr>
            <a:xfrm rot="0">
              <a:off x="815770" y="365578"/>
              <a:ext cx="7868646" cy="527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04"/>
                </a:lnSpc>
              </a:pPr>
              <a:r>
                <a:rPr lang="en-US" sz="2704">
                  <a:solidFill>
                    <a:srgbClr val="A2A2A2"/>
                  </a:solidFill>
                  <a:latin typeface="Poppins"/>
                  <a:ea typeface="Poppins"/>
                  <a:cs typeface="Poppins"/>
                  <a:sym typeface="Poppins"/>
                </a:rPr>
                <a:t>Presenter - P Naga Abhinay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449048" y="1637833"/>
            <a:ext cx="3737539" cy="410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3"/>
              </a:lnSpc>
            </a:pPr>
            <a:r>
              <a:rPr lang="en-US" sz="2823">
                <a:solidFill>
                  <a:srgbClr val="A2A2A2"/>
                </a:solidFill>
                <a:latin typeface="Poppins"/>
                <a:ea typeface="Poppins"/>
                <a:cs typeface="Poppins"/>
                <a:sym typeface="Poppins"/>
              </a:rPr>
              <a:t>DECEMBER 13,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95070" y="4599905"/>
            <a:ext cx="7493210" cy="7493210"/>
          </a:xfrm>
          <a:custGeom>
            <a:avLst/>
            <a:gdLst/>
            <a:ahLst/>
            <a:cxnLst/>
            <a:rect r="r" b="b" t="t" l="l"/>
            <a:pathLst>
              <a:path h="7493210" w="7493210">
                <a:moveTo>
                  <a:pt x="0" y="0"/>
                </a:moveTo>
                <a:lnTo>
                  <a:pt x="7493209" y="0"/>
                </a:lnTo>
                <a:lnTo>
                  <a:pt x="7493209" y="7493210"/>
                </a:lnTo>
                <a:lnTo>
                  <a:pt x="0" y="74932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95837" y="2294612"/>
            <a:ext cx="1811491" cy="1811491"/>
          </a:xfrm>
          <a:custGeom>
            <a:avLst/>
            <a:gdLst/>
            <a:ahLst/>
            <a:cxnLst/>
            <a:rect r="r" b="b" t="t" l="l"/>
            <a:pathLst>
              <a:path h="1811491" w="1811491">
                <a:moveTo>
                  <a:pt x="0" y="0"/>
                </a:moveTo>
                <a:lnTo>
                  <a:pt x="1811492" y="0"/>
                </a:lnTo>
                <a:lnTo>
                  <a:pt x="1811492" y="1811492"/>
                </a:lnTo>
                <a:lnTo>
                  <a:pt x="0" y="18114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854340" y="3253518"/>
            <a:ext cx="9632841" cy="0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188985" y="765294"/>
            <a:ext cx="12619407" cy="133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19"/>
              </a:lnSpc>
            </a:pPr>
            <a:r>
              <a:rPr lang="en-US" sz="8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PROBLEM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8009" y="3239612"/>
            <a:ext cx="17338514" cy="7188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89812" indent="-344906" lvl="1">
              <a:lnSpc>
                <a:spcPts val="5144"/>
              </a:lnSpc>
              <a:buFont typeface="Arial"/>
              <a:buChar char="•"/>
            </a:pPr>
            <a:r>
              <a:rPr lang="en-US" b="true" sz="3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Delayed response times:</a:t>
            </a:r>
          </a:p>
          <a:p>
            <a:pPr algn="just">
              <a:lnSpc>
                <a:spcPts val="4487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questions take 48–72 hours to get answered.</a:t>
            </a:r>
          </a:p>
          <a:p>
            <a:pPr algn="just" marL="689937" indent="-344968" lvl="1">
              <a:lnSpc>
                <a:spcPts val="5144"/>
              </a:lnSpc>
              <a:buFont typeface="Arial"/>
              <a:buChar char="•"/>
            </a:pPr>
            <a:r>
              <a:rPr lang="en-US" b="true" sz="3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 Support Costs:</a:t>
            </a:r>
          </a:p>
          <a:p>
            <a:pPr algn="just">
              <a:lnSpc>
                <a:spcPts val="4487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university depends heavily on manual support staff, which increases costs and workload.</a:t>
            </a:r>
          </a:p>
          <a:p>
            <a:pPr algn="just" marL="676743" indent="-338371" lvl="1">
              <a:lnSpc>
                <a:spcPts val="5046"/>
              </a:lnSpc>
              <a:buFont typeface="Arial"/>
              <a:buChar char="•"/>
            </a:pPr>
            <a:r>
              <a:rPr lang="en-US" sz="313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13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Student Dissatisfaction:</a:t>
            </a:r>
          </a:p>
          <a:p>
            <a:pPr algn="just">
              <a:lnSpc>
                <a:spcPts val="4487"/>
              </a:lnSpc>
            </a:pPr>
            <a:r>
              <a:rPr lang="en-US" sz="27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  </a:t>
            </a: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Recent surveys show only 62% satisfaction with support services</a:t>
            </a:r>
          </a:p>
          <a:p>
            <a:pPr algn="just" marL="689937" indent="-344968" lvl="1">
              <a:lnSpc>
                <a:spcPts val="5144"/>
              </a:lnSpc>
              <a:buFont typeface="Arial"/>
              <a:buChar char="•"/>
            </a:pPr>
            <a:r>
              <a:rPr lang="en-US" b="true" sz="3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319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Scattered student information:</a:t>
            </a:r>
          </a:p>
          <a:p>
            <a:pPr algn="just">
              <a:lnSpc>
                <a:spcPts val="4487"/>
              </a:lnSpc>
            </a:pPr>
            <a:r>
              <a:rPr lang="en-US" sz="27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data is stored in many different old systems, making it hard to coordinate between departments</a:t>
            </a:r>
          </a:p>
          <a:p>
            <a:pPr algn="just" marL="666514" indent="-333257" lvl="1">
              <a:lnSpc>
                <a:spcPts val="4970"/>
              </a:lnSpc>
              <a:buFont typeface="Arial"/>
              <a:buChar char="•"/>
            </a:pPr>
            <a:r>
              <a:rPr lang="en-US" b="true" sz="308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Inefficient Resource Allocation:</a:t>
            </a:r>
          </a:p>
          <a:p>
            <a:pPr algn="just">
              <a:lnSpc>
                <a:spcPts val="4809"/>
              </a:lnSpc>
            </a:pPr>
            <a:r>
              <a:rPr lang="en-US" sz="298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98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staff spend 60% of their time answering repetitive questions</a:t>
            </a:r>
          </a:p>
          <a:p>
            <a:pPr algn="just">
              <a:lnSpc>
                <a:spcPts val="448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23048" y="1712986"/>
            <a:ext cx="665937" cy="385033"/>
          </a:xfrm>
          <a:custGeom>
            <a:avLst/>
            <a:gdLst/>
            <a:ahLst/>
            <a:cxnLst/>
            <a:rect r="r" b="b" t="t" l="l"/>
            <a:pathLst>
              <a:path h="385033" w="665937">
                <a:moveTo>
                  <a:pt x="0" y="0"/>
                </a:moveTo>
                <a:lnTo>
                  <a:pt x="665937" y="0"/>
                </a:lnTo>
                <a:lnTo>
                  <a:pt x="665937" y="385033"/>
                </a:lnTo>
                <a:lnTo>
                  <a:pt x="0" y="385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177477" y="2050394"/>
            <a:ext cx="12619407" cy="83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-DEFINE PHASE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008431" y="4907747"/>
            <a:ext cx="1250869" cy="1250869"/>
          </a:xfrm>
          <a:custGeom>
            <a:avLst/>
            <a:gdLst/>
            <a:ahLst/>
            <a:cxnLst/>
            <a:rect r="r" b="b" t="t" l="l"/>
            <a:pathLst>
              <a:path h="1250869" w="1250869">
                <a:moveTo>
                  <a:pt x="0" y="0"/>
                </a:moveTo>
                <a:lnTo>
                  <a:pt x="1250869" y="0"/>
                </a:lnTo>
                <a:lnTo>
                  <a:pt x="1250869" y="1250869"/>
                </a:lnTo>
                <a:lnTo>
                  <a:pt x="0" y="1250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7749" y="8053422"/>
            <a:ext cx="3461594" cy="3461594"/>
          </a:xfrm>
          <a:custGeom>
            <a:avLst/>
            <a:gdLst/>
            <a:ahLst/>
            <a:cxnLst/>
            <a:rect r="r" b="b" t="t" l="l"/>
            <a:pathLst>
              <a:path h="3461594" w="3461594">
                <a:moveTo>
                  <a:pt x="0" y="0"/>
                </a:moveTo>
                <a:lnTo>
                  <a:pt x="3461594" y="0"/>
                </a:lnTo>
                <a:lnTo>
                  <a:pt x="3461594" y="3461594"/>
                </a:lnTo>
                <a:lnTo>
                  <a:pt x="0" y="3461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2237135"/>
            <a:ext cx="16074853" cy="6508550"/>
            <a:chOff x="0" y="0"/>
            <a:chExt cx="4150604" cy="168053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50604" cy="1680539"/>
            </a:xfrm>
            <a:custGeom>
              <a:avLst/>
              <a:gdLst/>
              <a:ahLst/>
              <a:cxnLst/>
              <a:rect r="r" b="b" t="t" l="l"/>
              <a:pathLst>
                <a:path h="1680539" w="4150604">
                  <a:moveTo>
                    <a:pt x="39493" y="0"/>
                  </a:moveTo>
                  <a:lnTo>
                    <a:pt x="4111111" y="0"/>
                  </a:lnTo>
                  <a:cubicBezTo>
                    <a:pt x="4121586" y="0"/>
                    <a:pt x="4131631" y="4161"/>
                    <a:pt x="4139037" y="11567"/>
                  </a:cubicBezTo>
                  <a:cubicBezTo>
                    <a:pt x="4146443" y="18973"/>
                    <a:pt x="4150604" y="29018"/>
                    <a:pt x="4150604" y="39493"/>
                  </a:cubicBezTo>
                  <a:lnTo>
                    <a:pt x="4150604" y="1641046"/>
                  </a:lnTo>
                  <a:cubicBezTo>
                    <a:pt x="4150604" y="1651520"/>
                    <a:pt x="4146443" y="1661565"/>
                    <a:pt x="4139037" y="1668972"/>
                  </a:cubicBezTo>
                  <a:cubicBezTo>
                    <a:pt x="4131631" y="1676378"/>
                    <a:pt x="4121586" y="1680539"/>
                    <a:pt x="4111111" y="1680539"/>
                  </a:cubicBezTo>
                  <a:lnTo>
                    <a:pt x="39493" y="1680539"/>
                  </a:lnTo>
                  <a:cubicBezTo>
                    <a:pt x="29018" y="1680539"/>
                    <a:pt x="18973" y="1676378"/>
                    <a:pt x="11567" y="1668972"/>
                  </a:cubicBezTo>
                  <a:cubicBezTo>
                    <a:pt x="4161" y="1661565"/>
                    <a:pt x="0" y="1651520"/>
                    <a:pt x="0" y="1641046"/>
                  </a:cubicBezTo>
                  <a:lnTo>
                    <a:pt x="0" y="39493"/>
                  </a:lnTo>
                  <a:cubicBezTo>
                    <a:pt x="0" y="29018"/>
                    <a:pt x="4161" y="18973"/>
                    <a:pt x="11567" y="11567"/>
                  </a:cubicBezTo>
                  <a:cubicBezTo>
                    <a:pt x="18973" y="4161"/>
                    <a:pt x="29018" y="0"/>
                    <a:pt x="39493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150604" cy="1737689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23048" y="525099"/>
            <a:ext cx="15241903" cy="133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8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SOLUTION OVERVIEW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5970" y="3086329"/>
            <a:ext cx="17669549" cy="727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7300" indent="-433650" lvl="1">
              <a:lnSpc>
                <a:spcPts val="4017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Student Support Bot</a:t>
            </a:r>
          </a:p>
          <a:p>
            <a:pPr algn="just">
              <a:lnSpc>
                <a:spcPts val="4017"/>
              </a:lnSpc>
            </a:pPr>
            <a:r>
              <a:rPr lang="en-US" sz="40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First point of contact providing 24/7 support and answering    student queries.</a:t>
            </a:r>
          </a:p>
          <a:p>
            <a:pPr algn="just">
              <a:lnSpc>
                <a:spcPts val="4017"/>
              </a:lnSpc>
            </a:pPr>
          </a:p>
          <a:p>
            <a:pPr algn="just" marL="867300" indent="-433650" lvl="1">
              <a:lnSpc>
                <a:spcPts val="4017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Unified Student Data Access</a:t>
            </a:r>
          </a:p>
          <a:p>
            <a:pPr algn="just">
              <a:lnSpc>
                <a:spcPts val="4017"/>
              </a:lnSpc>
            </a:pPr>
            <a:r>
              <a:rPr lang="en-US" sz="40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Using ESB technology</a:t>
            </a:r>
            <a:r>
              <a:rPr lang="en-US" sz="401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for integrating student data from legacy systems, without replacing existing systems.</a:t>
            </a:r>
          </a:p>
          <a:p>
            <a:pPr algn="just">
              <a:lnSpc>
                <a:spcPts val="4017"/>
              </a:lnSpc>
            </a:pPr>
          </a:p>
          <a:p>
            <a:pPr algn="just" marL="867300" indent="-433650" lvl="1">
              <a:lnSpc>
                <a:spcPts val="4017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Status</a:t>
            </a:r>
            <a:r>
              <a:rPr lang="en-US" b="true" sz="40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Tracking</a:t>
            </a:r>
          </a:p>
          <a:p>
            <a:pPr algn="just">
              <a:lnSpc>
                <a:spcPts val="3606"/>
              </a:lnSpc>
            </a:pPr>
            <a:r>
              <a:rPr lang="en-US" sz="36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Automatic case generation and status tracking for student queries and  forwarding to support staff.</a:t>
            </a:r>
          </a:p>
          <a:p>
            <a:pPr algn="just">
              <a:lnSpc>
                <a:spcPts val="3297"/>
              </a:lnSpc>
            </a:pPr>
          </a:p>
          <a:p>
            <a:pPr algn="just" marL="867300" indent="-433650" lvl="1">
              <a:lnSpc>
                <a:spcPts val="4017"/>
              </a:lnSpc>
              <a:buFont typeface="Arial"/>
              <a:buChar char="•"/>
            </a:pPr>
            <a:r>
              <a:rPr lang="en-US" b="true" sz="401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&amp; Compliant Design</a:t>
            </a:r>
          </a:p>
          <a:p>
            <a:pPr algn="just">
              <a:lnSpc>
                <a:spcPts val="3297"/>
              </a:lnSpc>
            </a:pPr>
            <a:r>
              <a:rPr lang="en-US" sz="32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Built-in security with Role-Based Access Control (RBAC) to protect student data.</a:t>
            </a:r>
          </a:p>
          <a:p>
            <a:pPr algn="just">
              <a:lnSpc>
                <a:spcPts val="3297"/>
              </a:lnSpc>
            </a:pPr>
          </a:p>
        </p:txBody>
      </p:sp>
      <p:sp>
        <p:nvSpPr>
          <p:cNvPr name="AutoShape 9" id="9"/>
          <p:cNvSpPr/>
          <p:nvPr/>
        </p:nvSpPr>
        <p:spPr>
          <a:xfrm>
            <a:off x="2965365" y="1857823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6853162" y="1796650"/>
            <a:ext cx="12619407" cy="83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-DESIGN PHASE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79766" y="3378882"/>
            <a:ext cx="5216468" cy="5216468"/>
          </a:xfrm>
          <a:custGeom>
            <a:avLst/>
            <a:gdLst/>
            <a:ahLst/>
            <a:cxnLst/>
            <a:rect r="r" b="b" t="t" l="l"/>
            <a:pathLst>
              <a:path h="5216468" w="5216468">
                <a:moveTo>
                  <a:pt x="0" y="0"/>
                </a:moveTo>
                <a:lnTo>
                  <a:pt x="5216468" y="0"/>
                </a:lnTo>
                <a:lnTo>
                  <a:pt x="5216468" y="5216468"/>
                </a:lnTo>
                <a:lnTo>
                  <a:pt x="0" y="52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5548" y="4879992"/>
            <a:ext cx="2214248" cy="2214248"/>
          </a:xfrm>
          <a:custGeom>
            <a:avLst/>
            <a:gdLst/>
            <a:ahLst/>
            <a:cxnLst/>
            <a:rect r="r" b="b" t="t" l="l"/>
            <a:pathLst>
              <a:path h="2214248" w="2214248">
                <a:moveTo>
                  <a:pt x="0" y="0"/>
                </a:moveTo>
                <a:lnTo>
                  <a:pt x="2214248" y="0"/>
                </a:lnTo>
                <a:lnTo>
                  <a:pt x="2214248" y="2214248"/>
                </a:lnTo>
                <a:lnTo>
                  <a:pt x="0" y="221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86100" y="523684"/>
            <a:ext cx="9622746" cy="122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1"/>
              </a:lnSpc>
            </a:pPr>
            <a:r>
              <a:rPr lang="en-US" sz="7631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ARCHITECTURE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213665" y="3024755"/>
            <a:ext cx="930335" cy="930335"/>
          </a:xfrm>
          <a:custGeom>
            <a:avLst/>
            <a:gdLst/>
            <a:ahLst/>
            <a:cxnLst/>
            <a:rect r="r" b="b" t="t" l="l"/>
            <a:pathLst>
              <a:path h="930335" w="930335">
                <a:moveTo>
                  <a:pt x="0" y="0"/>
                </a:moveTo>
                <a:lnTo>
                  <a:pt x="930335" y="0"/>
                </a:lnTo>
                <a:lnTo>
                  <a:pt x="930335" y="930335"/>
                </a:lnTo>
                <a:lnTo>
                  <a:pt x="0" y="93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97615" y="1169283"/>
            <a:ext cx="5467337" cy="988957"/>
            <a:chOff x="0" y="0"/>
            <a:chExt cx="1457479" cy="2636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57479" cy="263635"/>
            </a:xfrm>
            <a:custGeom>
              <a:avLst/>
              <a:gdLst/>
              <a:ahLst/>
              <a:cxnLst/>
              <a:rect r="r" b="b" t="t" l="l"/>
              <a:pathLst>
                <a:path h="263635" w="1457479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9" id="9"/>
          <p:cNvSpPr/>
          <p:nvPr/>
        </p:nvSpPr>
        <p:spPr>
          <a:xfrm>
            <a:off x="1588119" y="2279417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588119" y="2668922"/>
            <a:ext cx="12811404" cy="7541110"/>
          </a:xfrm>
          <a:custGeom>
            <a:avLst/>
            <a:gdLst/>
            <a:ahLst/>
            <a:cxnLst/>
            <a:rect r="r" b="b" t="t" l="l"/>
            <a:pathLst>
              <a:path h="7541110" w="12811404">
                <a:moveTo>
                  <a:pt x="0" y="0"/>
                </a:moveTo>
                <a:lnTo>
                  <a:pt x="12811403" y="0"/>
                </a:lnTo>
                <a:lnTo>
                  <a:pt x="12811403" y="7541110"/>
                </a:lnTo>
                <a:lnTo>
                  <a:pt x="0" y="7541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655" r="0" b="-11593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854648" y="1831492"/>
            <a:ext cx="12619407" cy="83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-DESIGN PHASE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9884" y="8192527"/>
            <a:ext cx="4974404" cy="4974404"/>
          </a:xfrm>
          <a:custGeom>
            <a:avLst/>
            <a:gdLst/>
            <a:ahLst/>
            <a:cxnLst/>
            <a:rect r="r" b="b" t="t" l="l"/>
            <a:pathLst>
              <a:path h="4974404" w="4974404">
                <a:moveTo>
                  <a:pt x="0" y="0"/>
                </a:moveTo>
                <a:lnTo>
                  <a:pt x="4974404" y="0"/>
                </a:lnTo>
                <a:lnTo>
                  <a:pt x="4974404" y="4974404"/>
                </a:lnTo>
                <a:lnTo>
                  <a:pt x="0" y="49744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984027" y="4498255"/>
            <a:ext cx="2774206" cy="2774206"/>
          </a:xfrm>
          <a:custGeom>
            <a:avLst/>
            <a:gdLst/>
            <a:ahLst/>
            <a:cxnLst/>
            <a:rect r="r" b="b" t="t" l="l"/>
            <a:pathLst>
              <a:path h="2774206" w="2774206">
                <a:moveTo>
                  <a:pt x="0" y="0"/>
                </a:moveTo>
                <a:lnTo>
                  <a:pt x="2774205" y="0"/>
                </a:lnTo>
                <a:lnTo>
                  <a:pt x="2774205" y="2774206"/>
                </a:lnTo>
                <a:lnTo>
                  <a:pt x="0" y="2774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033186" y="5709956"/>
            <a:ext cx="1250409" cy="1250409"/>
          </a:xfrm>
          <a:custGeom>
            <a:avLst/>
            <a:gdLst/>
            <a:ahLst/>
            <a:cxnLst/>
            <a:rect r="r" b="b" t="t" l="l"/>
            <a:pathLst>
              <a:path h="1250409" w="1250409">
                <a:moveTo>
                  <a:pt x="0" y="0"/>
                </a:moveTo>
                <a:lnTo>
                  <a:pt x="1250409" y="0"/>
                </a:lnTo>
                <a:lnTo>
                  <a:pt x="1250409" y="1250409"/>
                </a:lnTo>
                <a:lnTo>
                  <a:pt x="0" y="12504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949" y="319475"/>
            <a:ext cx="9187080" cy="133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19"/>
              </a:lnSpc>
            </a:pPr>
            <a:r>
              <a:rPr lang="en-US" sz="8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SPRINT PLAN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83553" y="1882890"/>
            <a:ext cx="7657960" cy="2263973"/>
            <a:chOff x="0" y="0"/>
            <a:chExt cx="10210613" cy="301863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10210613" cy="3018630"/>
              <a:chOff x="0" y="0"/>
              <a:chExt cx="2214252" cy="654614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14252" cy="654614"/>
              </a:xfrm>
              <a:custGeom>
                <a:avLst/>
                <a:gdLst/>
                <a:ahLst/>
                <a:cxnLst/>
                <a:rect r="r" b="b" t="t" l="l"/>
                <a:pathLst>
                  <a:path h="654614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578184"/>
                    </a:lnTo>
                    <a:cubicBezTo>
                      <a:pt x="2214252" y="598455"/>
                      <a:pt x="2206200" y="617895"/>
                      <a:pt x="2191866" y="632228"/>
                    </a:cubicBezTo>
                    <a:cubicBezTo>
                      <a:pt x="2177533" y="646561"/>
                      <a:pt x="2158093" y="654614"/>
                      <a:pt x="2137822" y="654614"/>
                    </a:cubicBezTo>
                    <a:lnTo>
                      <a:pt x="76430" y="654614"/>
                    </a:lnTo>
                    <a:cubicBezTo>
                      <a:pt x="56159" y="654614"/>
                      <a:pt x="36719" y="646561"/>
                      <a:pt x="22386" y="632228"/>
                    </a:cubicBezTo>
                    <a:cubicBezTo>
                      <a:pt x="8052" y="617895"/>
                      <a:pt x="0" y="598455"/>
                      <a:pt x="0" y="578184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57150"/>
                <a:ext cx="2214252" cy="711764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842323" y="600686"/>
              <a:ext cx="968710" cy="968710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080463" y="707148"/>
              <a:ext cx="7475206" cy="1757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98"/>
                </a:lnSpc>
              </a:pPr>
              <a:r>
                <a:rPr lang="en-US" sz="209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Project vision Goals :</a:t>
              </a:r>
            </a:p>
            <a:p>
              <a:pPr algn="l">
                <a:lnSpc>
                  <a:spcPts val="2098"/>
                </a:lnSpc>
              </a:pPr>
            </a:p>
            <a:p>
              <a:pPr algn="l">
                <a:lnSpc>
                  <a:spcPts val="2098"/>
                </a:lnSpc>
              </a:pPr>
              <a:r>
                <a:rPr lang="en-US" sz="209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automation tasks</a:t>
              </a:r>
            </a:p>
            <a:p>
              <a:pPr algn="l">
                <a:lnSpc>
                  <a:spcPts val="2098"/>
                </a:lnSpc>
              </a:pPr>
              <a:r>
                <a:rPr lang="en-US" sz="209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Surveys , Assignments </a:t>
              </a:r>
            </a:p>
            <a:p>
              <a:pPr algn="l">
                <a:lnSpc>
                  <a:spcPts val="2098"/>
                </a:lnSpc>
              </a:pPr>
              <a:r>
                <a:rPr lang="en-US" sz="209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Integrations -&gt; systems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073507" y="902442"/>
              <a:ext cx="506341" cy="3937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8"/>
                </a:lnSpc>
              </a:pPr>
              <a:r>
                <a:rPr lang="en-US" sz="209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35815" y="2030557"/>
            <a:ext cx="7948212" cy="1653278"/>
            <a:chOff x="0" y="0"/>
            <a:chExt cx="10597615" cy="2204371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597615" cy="2204371"/>
              <a:chOff x="0" y="0"/>
              <a:chExt cx="2214252" cy="460578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2214252" cy="460578"/>
              </a:xfrm>
              <a:custGeom>
                <a:avLst/>
                <a:gdLst/>
                <a:ahLst/>
                <a:cxnLst/>
                <a:rect r="r" b="b" t="t" l="l"/>
                <a:pathLst>
                  <a:path h="460578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384149"/>
                    </a:lnTo>
                    <a:cubicBezTo>
                      <a:pt x="2214252" y="404419"/>
                      <a:pt x="2206200" y="423859"/>
                      <a:pt x="2191866" y="438193"/>
                    </a:cubicBezTo>
                    <a:cubicBezTo>
                      <a:pt x="2177533" y="452526"/>
                      <a:pt x="2158093" y="460578"/>
                      <a:pt x="2137822" y="460578"/>
                    </a:cubicBezTo>
                    <a:lnTo>
                      <a:pt x="76430" y="460578"/>
                    </a:lnTo>
                    <a:cubicBezTo>
                      <a:pt x="56159" y="460578"/>
                      <a:pt x="36719" y="452526"/>
                      <a:pt x="22386" y="438193"/>
                    </a:cubicBezTo>
                    <a:cubicBezTo>
                      <a:pt x="8052" y="423859"/>
                      <a:pt x="0" y="404419"/>
                      <a:pt x="0" y="384149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2214252" cy="517728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874248" y="623453"/>
              <a:ext cx="1005426" cy="1005426"/>
              <a:chOff x="0" y="0"/>
              <a:chExt cx="812800" cy="812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159317" y="723342"/>
              <a:ext cx="7758531" cy="4230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Advanced Features -&gt;  Emergency tasks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114195" y="926038"/>
              <a:ext cx="525533" cy="41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217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33564" y="4241875"/>
            <a:ext cx="7657960" cy="1600472"/>
            <a:chOff x="0" y="0"/>
            <a:chExt cx="10210613" cy="213396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10210613" cy="2133963"/>
              <a:chOff x="0" y="0"/>
              <a:chExt cx="2243555" cy="46889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243555" cy="468891"/>
              </a:xfrm>
              <a:custGeom>
                <a:avLst/>
                <a:gdLst/>
                <a:ahLst/>
                <a:cxnLst/>
                <a:rect r="r" b="b" t="t" l="l"/>
                <a:pathLst>
                  <a:path h="468891" w="2243555">
                    <a:moveTo>
                      <a:pt x="75431" y="0"/>
                    </a:moveTo>
                    <a:lnTo>
                      <a:pt x="2168124" y="0"/>
                    </a:lnTo>
                    <a:cubicBezTo>
                      <a:pt x="2188129" y="0"/>
                      <a:pt x="2207316" y="7947"/>
                      <a:pt x="2221462" y="22093"/>
                    </a:cubicBezTo>
                    <a:cubicBezTo>
                      <a:pt x="2235608" y="36239"/>
                      <a:pt x="2243555" y="55426"/>
                      <a:pt x="2243555" y="75431"/>
                    </a:cubicBezTo>
                    <a:lnTo>
                      <a:pt x="2243555" y="393460"/>
                    </a:lnTo>
                    <a:cubicBezTo>
                      <a:pt x="2243555" y="413465"/>
                      <a:pt x="2235608" y="432652"/>
                      <a:pt x="2221462" y="446798"/>
                    </a:cubicBezTo>
                    <a:cubicBezTo>
                      <a:pt x="2207316" y="460944"/>
                      <a:pt x="2188129" y="468891"/>
                      <a:pt x="2168124" y="468891"/>
                    </a:cubicBezTo>
                    <a:lnTo>
                      <a:pt x="75431" y="468891"/>
                    </a:lnTo>
                    <a:cubicBezTo>
                      <a:pt x="55426" y="468891"/>
                      <a:pt x="36239" y="460944"/>
                      <a:pt x="22093" y="446798"/>
                    </a:cubicBezTo>
                    <a:cubicBezTo>
                      <a:pt x="7947" y="432652"/>
                      <a:pt x="0" y="413465"/>
                      <a:pt x="0" y="393460"/>
                    </a:cubicBezTo>
                    <a:lnTo>
                      <a:pt x="0" y="75431"/>
                    </a:lnTo>
                    <a:cubicBezTo>
                      <a:pt x="0" y="55426"/>
                      <a:pt x="7947" y="36239"/>
                      <a:pt x="22093" y="22093"/>
                    </a:cubicBezTo>
                    <a:cubicBezTo>
                      <a:pt x="36239" y="7947"/>
                      <a:pt x="55426" y="0"/>
                      <a:pt x="75431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57150"/>
                <a:ext cx="2243555" cy="526041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842323" y="572119"/>
              <a:ext cx="968710" cy="956057"/>
              <a:chOff x="0" y="0"/>
              <a:chExt cx="823556" cy="8128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23557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23557">
                    <a:moveTo>
                      <a:pt x="411778" y="0"/>
                    </a:moveTo>
                    <a:cubicBezTo>
                      <a:pt x="184359" y="0"/>
                      <a:pt x="0" y="181951"/>
                      <a:pt x="0" y="406400"/>
                    </a:cubicBezTo>
                    <a:cubicBezTo>
                      <a:pt x="0" y="630849"/>
                      <a:pt x="184359" y="812800"/>
                      <a:pt x="411778" y="812800"/>
                    </a:cubicBezTo>
                    <a:cubicBezTo>
                      <a:pt x="639197" y="812800"/>
                      <a:pt x="823557" y="630849"/>
                      <a:pt x="823557" y="406400"/>
                    </a:cubicBezTo>
                    <a:cubicBezTo>
                      <a:pt x="823557" y="181951"/>
                      <a:pt x="639197" y="0"/>
                      <a:pt x="411778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77208" y="19050"/>
                <a:ext cx="66914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2080463" y="829105"/>
              <a:ext cx="7475206" cy="7369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71"/>
                </a:lnSpc>
              </a:pPr>
              <a:r>
                <a:rPr lang="en-US" sz="207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Designing Infrastructure and Planning</a:t>
              </a:r>
            </a:p>
            <a:p>
              <a:pPr algn="l">
                <a:lnSpc>
                  <a:spcPts val="2071"/>
                </a:lnSpc>
              </a:pPr>
              <a:r>
                <a:rPr lang="en-US" sz="207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Set up Development Platforms 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073507" y="858701"/>
              <a:ext cx="506341" cy="3977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71"/>
                </a:lnSpc>
              </a:pPr>
              <a:r>
                <a:rPr lang="en-US" sz="207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035815" y="4047250"/>
            <a:ext cx="7948212" cy="1694657"/>
            <a:chOff x="0" y="0"/>
            <a:chExt cx="10597615" cy="225954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597615" cy="2259543"/>
              <a:chOff x="0" y="0"/>
              <a:chExt cx="2214252" cy="47210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14252" cy="472106"/>
              </a:xfrm>
              <a:custGeom>
                <a:avLst/>
                <a:gdLst/>
                <a:ahLst/>
                <a:cxnLst/>
                <a:rect r="r" b="b" t="t" l="l"/>
                <a:pathLst>
                  <a:path h="472106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395676"/>
                    </a:lnTo>
                    <a:cubicBezTo>
                      <a:pt x="2214252" y="415947"/>
                      <a:pt x="2206200" y="435387"/>
                      <a:pt x="2191866" y="449720"/>
                    </a:cubicBezTo>
                    <a:cubicBezTo>
                      <a:pt x="2177533" y="464054"/>
                      <a:pt x="2158093" y="472106"/>
                      <a:pt x="2137822" y="472106"/>
                    </a:cubicBezTo>
                    <a:lnTo>
                      <a:pt x="76430" y="472106"/>
                    </a:lnTo>
                    <a:cubicBezTo>
                      <a:pt x="56159" y="472106"/>
                      <a:pt x="36719" y="464054"/>
                      <a:pt x="22386" y="449720"/>
                    </a:cubicBezTo>
                    <a:cubicBezTo>
                      <a:pt x="8052" y="435387"/>
                      <a:pt x="0" y="415947"/>
                      <a:pt x="0" y="395676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2214252" cy="529256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874248" y="601662"/>
              <a:ext cx="1005426" cy="1005426"/>
              <a:chOff x="0" y="0"/>
              <a:chExt cx="812800" cy="8128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2159317" y="870934"/>
              <a:ext cx="7758531" cy="791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Implementing other stages of        development -&gt; 24/7 support  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114195" y="902058"/>
              <a:ext cx="525533" cy="41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217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33543" y="5923458"/>
            <a:ext cx="7757981" cy="2050727"/>
            <a:chOff x="0" y="0"/>
            <a:chExt cx="10343974" cy="2734303"/>
          </a:xfrm>
        </p:grpSpPr>
        <p:grpSp>
          <p:nvGrpSpPr>
            <p:cNvPr name="Group 43" id="43"/>
            <p:cNvGrpSpPr/>
            <p:nvPr/>
          </p:nvGrpSpPr>
          <p:grpSpPr>
            <a:xfrm rot="0">
              <a:off x="0" y="0"/>
              <a:ext cx="10343974" cy="2734303"/>
              <a:chOff x="0" y="0"/>
              <a:chExt cx="2328590" cy="615534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2328590" cy="615534"/>
              </a:xfrm>
              <a:custGeom>
                <a:avLst/>
                <a:gdLst/>
                <a:ahLst/>
                <a:cxnLst/>
                <a:rect r="r" b="b" t="t" l="l"/>
                <a:pathLst>
                  <a:path h="615534" w="2328590">
                    <a:moveTo>
                      <a:pt x="72677" y="0"/>
                    </a:moveTo>
                    <a:lnTo>
                      <a:pt x="2255913" y="0"/>
                    </a:lnTo>
                    <a:cubicBezTo>
                      <a:pt x="2275188" y="0"/>
                      <a:pt x="2293674" y="7657"/>
                      <a:pt x="2307304" y="21287"/>
                    </a:cubicBezTo>
                    <a:cubicBezTo>
                      <a:pt x="2320933" y="34916"/>
                      <a:pt x="2328590" y="53402"/>
                      <a:pt x="2328590" y="72677"/>
                    </a:cubicBezTo>
                    <a:lnTo>
                      <a:pt x="2328590" y="542858"/>
                    </a:lnTo>
                    <a:cubicBezTo>
                      <a:pt x="2328590" y="562133"/>
                      <a:pt x="2320933" y="580618"/>
                      <a:pt x="2307304" y="594248"/>
                    </a:cubicBezTo>
                    <a:cubicBezTo>
                      <a:pt x="2293674" y="607877"/>
                      <a:pt x="2275188" y="615534"/>
                      <a:pt x="2255913" y="615534"/>
                    </a:cubicBezTo>
                    <a:lnTo>
                      <a:pt x="72677" y="615534"/>
                    </a:lnTo>
                    <a:cubicBezTo>
                      <a:pt x="53402" y="615534"/>
                      <a:pt x="34916" y="607877"/>
                      <a:pt x="21287" y="594248"/>
                    </a:cubicBezTo>
                    <a:cubicBezTo>
                      <a:pt x="7657" y="580618"/>
                      <a:pt x="0" y="562133"/>
                      <a:pt x="0" y="542858"/>
                    </a:cubicBezTo>
                    <a:lnTo>
                      <a:pt x="0" y="72677"/>
                    </a:lnTo>
                    <a:cubicBezTo>
                      <a:pt x="0" y="53402"/>
                      <a:pt x="7657" y="34916"/>
                      <a:pt x="21287" y="21287"/>
                    </a:cubicBezTo>
                    <a:cubicBezTo>
                      <a:pt x="34916" y="7657"/>
                      <a:pt x="53402" y="0"/>
                      <a:pt x="72677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57150"/>
                <a:ext cx="2328590" cy="672684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853324" y="530131"/>
              <a:ext cx="981362" cy="933175"/>
              <a:chOff x="0" y="0"/>
              <a:chExt cx="854771" cy="8128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85477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54771">
                    <a:moveTo>
                      <a:pt x="427385" y="0"/>
                    </a:moveTo>
                    <a:cubicBezTo>
                      <a:pt x="191347" y="0"/>
                      <a:pt x="0" y="181951"/>
                      <a:pt x="0" y="406400"/>
                    </a:cubicBezTo>
                    <a:cubicBezTo>
                      <a:pt x="0" y="630849"/>
                      <a:pt x="191347" y="812800"/>
                      <a:pt x="427385" y="812800"/>
                    </a:cubicBezTo>
                    <a:cubicBezTo>
                      <a:pt x="663424" y="812800"/>
                      <a:pt x="854771" y="630849"/>
                      <a:pt x="854771" y="406400"/>
                    </a:cubicBezTo>
                    <a:cubicBezTo>
                      <a:pt x="854771" y="181951"/>
                      <a:pt x="663424" y="0"/>
                      <a:pt x="427385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80135" y="19050"/>
                <a:ext cx="694501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2233540" y="478801"/>
              <a:ext cx="7572840" cy="13702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21"/>
                </a:lnSpc>
              </a:pPr>
              <a:r>
                <a:rPr lang="en-US" sz="20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AI prototyping:</a:t>
              </a:r>
            </a:p>
            <a:p>
              <a:pPr algn="l">
                <a:lnSpc>
                  <a:spcPts val="2021"/>
                </a:lnSpc>
              </a:pPr>
            </a:p>
            <a:p>
              <a:pPr algn="l">
                <a:lnSpc>
                  <a:spcPts val="2021"/>
                </a:lnSpc>
              </a:pPr>
              <a:r>
                <a:rPr lang="en-US" sz="20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Building layer / middleware to integrate ai with the legacy systems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1087528" y="808607"/>
              <a:ext cx="512955" cy="387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21"/>
                </a:lnSpc>
              </a:pPr>
              <a:r>
                <a:rPr lang="en-US" sz="2021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035815" y="6110510"/>
            <a:ext cx="7948212" cy="1694657"/>
            <a:chOff x="0" y="0"/>
            <a:chExt cx="10597615" cy="2259543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0597615" cy="2259543"/>
              <a:chOff x="0" y="0"/>
              <a:chExt cx="2214252" cy="472106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2214252" cy="472106"/>
              </a:xfrm>
              <a:custGeom>
                <a:avLst/>
                <a:gdLst/>
                <a:ahLst/>
                <a:cxnLst/>
                <a:rect r="r" b="b" t="t" l="l"/>
                <a:pathLst>
                  <a:path h="472106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395676"/>
                    </a:lnTo>
                    <a:cubicBezTo>
                      <a:pt x="2214252" y="415947"/>
                      <a:pt x="2206200" y="435387"/>
                      <a:pt x="2191866" y="449720"/>
                    </a:cubicBezTo>
                    <a:cubicBezTo>
                      <a:pt x="2177533" y="464054"/>
                      <a:pt x="2158093" y="472106"/>
                      <a:pt x="2137822" y="472106"/>
                    </a:cubicBezTo>
                    <a:lnTo>
                      <a:pt x="76430" y="472106"/>
                    </a:lnTo>
                    <a:cubicBezTo>
                      <a:pt x="56159" y="472106"/>
                      <a:pt x="36719" y="464054"/>
                      <a:pt x="22386" y="449720"/>
                    </a:cubicBezTo>
                    <a:cubicBezTo>
                      <a:pt x="8052" y="435387"/>
                      <a:pt x="0" y="415947"/>
                      <a:pt x="0" y="395676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57150"/>
                <a:ext cx="2214252" cy="529256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874248" y="571176"/>
              <a:ext cx="1005426" cy="1005426"/>
              <a:chOff x="0" y="0"/>
              <a:chExt cx="812800" cy="8128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2159317" y="840449"/>
              <a:ext cx="7758531" cy="791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Testing with different users and groups     Feedbacks 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114195" y="869738"/>
              <a:ext cx="525533" cy="41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217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07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8428" y="8192527"/>
            <a:ext cx="7948212" cy="1694657"/>
            <a:chOff x="0" y="0"/>
            <a:chExt cx="10597615" cy="2259543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10597615" cy="2259543"/>
              <a:chOff x="0" y="0"/>
              <a:chExt cx="2214252" cy="472106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2214252" cy="472106"/>
              </a:xfrm>
              <a:custGeom>
                <a:avLst/>
                <a:gdLst/>
                <a:ahLst/>
                <a:cxnLst/>
                <a:rect r="r" b="b" t="t" l="l"/>
                <a:pathLst>
                  <a:path h="472106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395676"/>
                    </a:lnTo>
                    <a:cubicBezTo>
                      <a:pt x="2214252" y="415947"/>
                      <a:pt x="2206200" y="435387"/>
                      <a:pt x="2191866" y="449720"/>
                    </a:cubicBezTo>
                    <a:cubicBezTo>
                      <a:pt x="2177533" y="464054"/>
                      <a:pt x="2158093" y="472106"/>
                      <a:pt x="2137822" y="472106"/>
                    </a:cubicBezTo>
                    <a:lnTo>
                      <a:pt x="76430" y="472106"/>
                    </a:lnTo>
                    <a:cubicBezTo>
                      <a:pt x="56159" y="472106"/>
                      <a:pt x="36719" y="464054"/>
                      <a:pt x="22386" y="449720"/>
                    </a:cubicBezTo>
                    <a:cubicBezTo>
                      <a:pt x="8052" y="435387"/>
                      <a:pt x="0" y="415947"/>
                      <a:pt x="0" y="395676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57150"/>
                <a:ext cx="2214252" cy="529256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64" id="64"/>
            <p:cNvGrpSpPr/>
            <p:nvPr/>
          </p:nvGrpSpPr>
          <p:grpSpPr>
            <a:xfrm rot="0">
              <a:off x="874248" y="571176"/>
              <a:ext cx="1005426" cy="1005426"/>
              <a:chOff x="0" y="0"/>
              <a:chExt cx="812800" cy="81280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7" id="67"/>
            <p:cNvSpPr txBox="true"/>
            <p:nvPr/>
          </p:nvSpPr>
          <p:spPr>
            <a:xfrm rot="0">
              <a:off x="2159317" y="840449"/>
              <a:ext cx="7758531" cy="791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Testing, Implementing mechanisms to track AI working behaviour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1112591" y="869738"/>
              <a:ext cx="525533" cy="41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217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035815" y="7921699"/>
            <a:ext cx="7948212" cy="1970882"/>
            <a:chOff x="0" y="0"/>
            <a:chExt cx="10597615" cy="2627843"/>
          </a:xfrm>
        </p:grpSpPr>
        <p:grpSp>
          <p:nvGrpSpPr>
            <p:cNvPr name="Group 70" id="70"/>
            <p:cNvGrpSpPr/>
            <p:nvPr/>
          </p:nvGrpSpPr>
          <p:grpSpPr>
            <a:xfrm rot="0">
              <a:off x="0" y="0"/>
              <a:ext cx="10597615" cy="2627843"/>
              <a:chOff x="0" y="0"/>
              <a:chExt cx="2214252" cy="549058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2214252" cy="549058"/>
              </a:xfrm>
              <a:custGeom>
                <a:avLst/>
                <a:gdLst/>
                <a:ahLst/>
                <a:cxnLst/>
                <a:rect r="r" b="b" t="t" l="l"/>
                <a:pathLst>
                  <a:path h="549058" w="2214252">
                    <a:moveTo>
                      <a:pt x="76430" y="0"/>
                    </a:moveTo>
                    <a:lnTo>
                      <a:pt x="2137822" y="0"/>
                    </a:lnTo>
                    <a:cubicBezTo>
                      <a:pt x="2158093" y="0"/>
                      <a:pt x="2177533" y="8052"/>
                      <a:pt x="2191866" y="22386"/>
                    </a:cubicBezTo>
                    <a:cubicBezTo>
                      <a:pt x="2206200" y="36719"/>
                      <a:pt x="2214252" y="56159"/>
                      <a:pt x="2214252" y="76430"/>
                    </a:cubicBezTo>
                    <a:lnTo>
                      <a:pt x="2214252" y="472628"/>
                    </a:lnTo>
                    <a:cubicBezTo>
                      <a:pt x="2214252" y="492899"/>
                      <a:pt x="2206200" y="512339"/>
                      <a:pt x="2191866" y="526672"/>
                    </a:cubicBezTo>
                    <a:cubicBezTo>
                      <a:pt x="2177533" y="541006"/>
                      <a:pt x="2158093" y="549058"/>
                      <a:pt x="2137822" y="549058"/>
                    </a:cubicBezTo>
                    <a:lnTo>
                      <a:pt x="76430" y="549058"/>
                    </a:lnTo>
                    <a:cubicBezTo>
                      <a:pt x="56159" y="549058"/>
                      <a:pt x="36719" y="541006"/>
                      <a:pt x="22386" y="526672"/>
                    </a:cubicBezTo>
                    <a:cubicBezTo>
                      <a:pt x="8052" y="512339"/>
                      <a:pt x="0" y="492899"/>
                      <a:pt x="0" y="472628"/>
                    </a:cubicBezTo>
                    <a:lnTo>
                      <a:pt x="0" y="76430"/>
                    </a:lnTo>
                    <a:cubicBezTo>
                      <a:pt x="0" y="56159"/>
                      <a:pt x="8052" y="36719"/>
                      <a:pt x="22386" y="22386"/>
                    </a:cubicBezTo>
                    <a:cubicBezTo>
                      <a:pt x="36719" y="8052"/>
                      <a:pt x="56159" y="0"/>
                      <a:pt x="76430" y="0"/>
                    </a:cubicBezTo>
                    <a:close/>
                  </a:path>
                </a:pathLst>
              </a:custGeom>
              <a:solidFill>
                <a:srgbClr val="FFFFFF">
                  <a:alpha val="4706"/>
                </a:srgbClr>
              </a:solidFill>
            </p:spPr>
          </p:sp>
          <p:sp>
            <p:nvSpPr>
              <p:cNvPr name="TextBox 72" id="72"/>
              <p:cNvSpPr txBox="true"/>
              <p:nvPr/>
            </p:nvSpPr>
            <p:spPr>
              <a:xfrm>
                <a:off x="0" y="-57150"/>
                <a:ext cx="2214252" cy="606208"/>
              </a:xfrm>
              <a:prstGeom prst="rect">
                <a:avLst/>
              </a:prstGeom>
            </p:spPr>
            <p:txBody>
              <a:bodyPr anchor="ctr" rtlCol="false" tIns="52257" lIns="52257" bIns="52257" rIns="52257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73" id="73"/>
            <p:cNvGrpSpPr/>
            <p:nvPr/>
          </p:nvGrpSpPr>
          <p:grpSpPr>
            <a:xfrm rot="0">
              <a:off x="874248" y="571176"/>
              <a:ext cx="1005426" cy="1005426"/>
              <a:chOff x="0" y="0"/>
              <a:chExt cx="812800" cy="812800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974681">
                      <a:alpha val="100000"/>
                    </a:srgbClr>
                  </a:gs>
                  <a:gs pos="100000">
                    <a:srgbClr val="1F1344">
                      <a:alpha val="100000"/>
                    </a:srgbClr>
                  </a:gs>
                </a:gsLst>
                <a:lin ang="2700000"/>
              </a:grad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76" id="76"/>
            <p:cNvSpPr txBox="true"/>
            <p:nvPr/>
          </p:nvSpPr>
          <p:spPr>
            <a:xfrm rot="0">
              <a:off x="2159317" y="840449"/>
              <a:ext cx="7758531" cy="11596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Refinement and iterate</a:t>
              </a:r>
            </a:p>
            <a:p>
              <a:pPr algn="l">
                <a:lnSpc>
                  <a:spcPts val="2178"/>
                </a:lnSpc>
              </a:pPr>
            </a:p>
            <a:p>
              <a:pPr algn="l">
                <a:lnSpc>
                  <a:spcPts val="2178"/>
                </a:lnSpc>
              </a:pPr>
              <a:r>
                <a:rPr lang="en-US" sz="217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Deploy, Maintain, and Monitor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0">
              <a:off x="1114195" y="869738"/>
              <a:ext cx="525533" cy="4193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78"/>
                </a:lnSpc>
              </a:pPr>
              <a:r>
                <a:rPr lang="en-US" sz="2178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08</a:t>
              </a: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7167588" y="1210893"/>
            <a:ext cx="12619407" cy="83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-DEVELOP PHASE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2965365" y="1643896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449658" y="2030667"/>
            <a:ext cx="11301259" cy="1159020"/>
          </a:xfrm>
          <a:custGeom>
            <a:avLst/>
            <a:gdLst/>
            <a:ahLst/>
            <a:cxnLst/>
            <a:rect r="r" b="b" t="t" l="l"/>
            <a:pathLst>
              <a:path h="1159020" w="11301259">
                <a:moveTo>
                  <a:pt x="0" y="0"/>
                </a:moveTo>
                <a:lnTo>
                  <a:pt x="11301259" y="0"/>
                </a:lnTo>
                <a:lnTo>
                  <a:pt x="11301259" y="1159020"/>
                </a:lnTo>
                <a:lnTo>
                  <a:pt x="0" y="1159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4072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21235" y="3189687"/>
            <a:ext cx="7628595" cy="5764465"/>
          </a:xfrm>
          <a:custGeom>
            <a:avLst/>
            <a:gdLst/>
            <a:ahLst/>
            <a:cxnLst/>
            <a:rect r="r" b="b" t="t" l="l"/>
            <a:pathLst>
              <a:path h="5764465" w="7628595">
                <a:moveTo>
                  <a:pt x="0" y="0"/>
                </a:moveTo>
                <a:lnTo>
                  <a:pt x="7628595" y="0"/>
                </a:lnTo>
                <a:lnTo>
                  <a:pt x="7628595" y="5764465"/>
                </a:lnTo>
                <a:lnTo>
                  <a:pt x="0" y="5764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3839" y="3278712"/>
            <a:ext cx="10354265" cy="5979588"/>
          </a:xfrm>
          <a:custGeom>
            <a:avLst/>
            <a:gdLst/>
            <a:ahLst/>
            <a:cxnLst/>
            <a:rect r="r" b="b" t="t" l="l"/>
            <a:pathLst>
              <a:path h="5979588" w="10354265">
                <a:moveTo>
                  <a:pt x="0" y="0"/>
                </a:moveTo>
                <a:lnTo>
                  <a:pt x="10354264" y="0"/>
                </a:lnTo>
                <a:lnTo>
                  <a:pt x="10354264" y="5979588"/>
                </a:lnTo>
                <a:lnTo>
                  <a:pt x="0" y="597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65365" y="655296"/>
            <a:ext cx="9931606" cy="12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996"/>
              </a:lnSpc>
            </a:pPr>
            <a:r>
              <a:rPr lang="en-US" sz="7996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BUDGET PLAN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452102" y="1772747"/>
            <a:ext cx="12619407" cy="837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19"/>
              </a:lnSpc>
            </a:pPr>
            <a:r>
              <a:rPr lang="en-US" sz="5219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-DEVELOP PHASE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79766" y="3378882"/>
            <a:ext cx="5216468" cy="5216468"/>
          </a:xfrm>
          <a:custGeom>
            <a:avLst/>
            <a:gdLst/>
            <a:ahLst/>
            <a:cxnLst/>
            <a:rect r="r" b="b" t="t" l="l"/>
            <a:pathLst>
              <a:path h="5216468" w="5216468">
                <a:moveTo>
                  <a:pt x="0" y="0"/>
                </a:moveTo>
                <a:lnTo>
                  <a:pt x="5216468" y="0"/>
                </a:lnTo>
                <a:lnTo>
                  <a:pt x="5216468" y="5216468"/>
                </a:lnTo>
                <a:lnTo>
                  <a:pt x="0" y="52164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5548" y="4879992"/>
            <a:ext cx="2214248" cy="2214248"/>
          </a:xfrm>
          <a:custGeom>
            <a:avLst/>
            <a:gdLst/>
            <a:ahLst/>
            <a:cxnLst/>
            <a:rect r="r" b="b" t="t" l="l"/>
            <a:pathLst>
              <a:path h="2214248" w="2214248">
                <a:moveTo>
                  <a:pt x="0" y="0"/>
                </a:moveTo>
                <a:lnTo>
                  <a:pt x="2214248" y="0"/>
                </a:lnTo>
                <a:lnTo>
                  <a:pt x="2214248" y="2214248"/>
                </a:lnTo>
                <a:lnTo>
                  <a:pt x="0" y="22142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253234" y="933716"/>
            <a:ext cx="15501032" cy="1224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31"/>
              </a:lnSpc>
            </a:pPr>
            <a:r>
              <a:rPr lang="en-US" sz="7631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KPI &amp; OUTCOMES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182633" y="3215120"/>
            <a:ext cx="7248443" cy="2965463"/>
            <a:chOff x="0" y="0"/>
            <a:chExt cx="1992022" cy="8149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92023" cy="814971"/>
            </a:xfrm>
            <a:custGeom>
              <a:avLst/>
              <a:gdLst/>
              <a:ahLst/>
              <a:cxnLst/>
              <a:rect r="r" b="b" t="t" l="l"/>
              <a:pathLst>
                <a:path h="814971" w="1992023">
                  <a:moveTo>
                    <a:pt x="87583" y="0"/>
                  </a:moveTo>
                  <a:lnTo>
                    <a:pt x="1904440" y="0"/>
                  </a:lnTo>
                  <a:cubicBezTo>
                    <a:pt x="1952810" y="0"/>
                    <a:pt x="1992023" y="39212"/>
                    <a:pt x="1992023" y="87583"/>
                  </a:cubicBezTo>
                  <a:lnTo>
                    <a:pt x="1992023" y="727388"/>
                  </a:lnTo>
                  <a:cubicBezTo>
                    <a:pt x="1992023" y="750616"/>
                    <a:pt x="1982795" y="772893"/>
                    <a:pt x="1966370" y="789318"/>
                  </a:cubicBezTo>
                  <a:cubicBezTo>
                    <a:pt x="1949945" y="805743"/>
                    <a:pt x="1927668" y="814971"/>
                    <a:pt x="1904440" y="814971"/>
                  </a:cubicBezTo>
                  <a:lnTo>
                    <a:pt x="87583" y="814971"/>
                  </a:lnTo>
                  <a:cubicBezTo>
                    <a:pt x="39212" y="814971"/>
                    <a:pt x="0" y="775759"/>
                    <a:pt x="0" y="727388"/>
                  </a:cubicBezTo>
                  <a:lnTo>
                    <a:pt x="0" y="87583"/>
                  </a:lnTo>
                  <a:cubicBezTo>
                    <a:pt x="0" y="39212"/>
                    <a:pt x="39212" y="0"/>
                    <a:pt x="87583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992022" cy="872121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23048" y="6733473"/>
            <a:ext cx="15241903" cy="2384244"/>
            <a:chOff x="0" y="0"/>
            <a:chExt cx="4188791" cy="655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88791" cy="655240"/>
            </a:xfrm>
            <a:custGeom>
              <a:avLst/>
              <a:gdLst/>
              <a:ahLst/>
              <a:cxnLst/>
              <a:rect r="r" b="b" t="t" l="l"/>
              <a:pathLst>
                <a:path h="655240" w="4188791">
                  <a:moveTo>
                    <a:pt x="41651" y="0"/>
                  </a:moveTo>
                  <a:lnTo>
                    <a:pt x="4147140" y="0"/>
                  </a:lnTo>
                  <a:cubicBezTo>
                    <a:pt x="4170143" y="0"/>
                    <a:pt x="4188791" y="18648"/>
                    <a:pt x="4188791" y="41651"/>
                  </a:cubicBezTo>
                  <a:lnTo>
                    <a:pt x="4188791" y="613589"/>
                  </a:lnTo>
                  <a:cubicBezTo>
                    <a:pt x="4188791" y="624635"/>
                    <a:pt x="4184403" y="635229"/>
                    <a:pt x="4176592" y="643040"/>
                  </a:cubicBezTo>
                  <a:cubicBezTo>
                    <a:pt x="4168780" y="650851"/>
                    <a:pt x="4158186" y="655240"/>
                    <a:pt x="4147140" y="655240"/>
                  </a:cubicBezTo>
                  <a:lnTo>
                    <a:pt x="41651" y="655240"/>
                  </a:lnTo>
                  <a:cubicBezTo>
                    <a:pt x="18648" y="655240"/>
                    <a:pt x="0" y="636592"/>
                    <a:pt x="0" y="613589"/>
                  </a:cubicBezTo>
                  <a:lnTo>
                    <a:pt x="0" y="41651"/>
                  </a:lnTo>
                  <a:cubicBezTo>
                    <a:pt x="0" y="30604"/>
                    <a:pt x="4388" y="20010"/>
                    <a:pt x="12199" y="12199"/>
                  </a:cubicBezTo>
                  <a:cubicBezTo>
                    <a:pt x="20010" y="4388"/>
                    <a:pt x="30604" y="0"/>
                    <a:pt x="41651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188791" cy="712390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213665" y="3024755"/>
            <a:ext cx="930335" cy="930335"/>
          </a:xfrm>
          <a:custGeom>
            <a:avLst/>
            <a:gdLst/>
            <a:ahLst/>
            <a:cxnLst/>
            <a:rect r="r" b="b" t="t" l="l"/>
            <a:pathLst>
              <a:path h="930335" w="930335">
                <a:moveTo>
                  <a:pt x="0" y="0"/>
                </a:moveTo>
                <a:lnTo>
                  <a:pt x="930335" y="0"/>
                </a:lnTo>
                <a:lnTo>
                  <a:pt x="930335" y="930335"/>
                </a:lnTo>
                <a:lnTo>
                  <a:pt x="0" y="9303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297615" y="1169283"/>
            <a:ext cx="5467337" cy="988957"/>
            <a:chOff x="0" y="0"/>
            <a:chExt cx="1457479" cy="26363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57479" cy="263635"/>
            </a:xfrm>
            <a:custGeom>
              <a:avLst/>
              <a:gdLst/>
              <a:ahLst/>
              <a:cxnLst/>
              <a:rect r="r" b="b" t="t" l="l"/>
              <a:pathLst>
                <a:path h="263635" w="1457479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solidFill>
              <a:srgbClr val="FFFFFF">
                <a:alpha val="4706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28712" y="3470873"/>
            <a:ext cx="7555869" cy="9525"/>
          </a:xfrm>
          <a:prstGeom prst="line">
            <a:avLst/>
          </a:prstGeom>
          <a:ln cap="flat" w="19050">
            <a:solidFill>
              <a:srgbClr val="4C4C4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28712" y="2547969"/>
            <a:ext cx="16048040" cy="6416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8"/>
              </a:lnSpc>
              <a:spcBef>
                <a:spcPct val="0"/>
              </a:spcBef>
            </a:pPr>
            <a:r>
              <a:rPr lang="en-US" b="true" sz="469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KPI &amp; OUTCOMES:</a:t>
            </a:r>
          </a:p>
          <a:p>
            <a:pPr algn="l">
              <a:lnSpc>
                <a:spcPts val="6568"/>
              </a:lnSpc>
              <a:spcBef>
                <a:spcPct val="0"/>
              </a:spcBef>
            </a:pP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Response Time: 80% of queries answered under 5 minutes.</a:t>
            </a: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Automation Rate: 70% queries handled by AI bot.</a:t>
            </a: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Student Satisfaction: Improve from 62% → 85%.</a:t>
            </a: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Staff Workload: Reduce by 50%.</a:t>
            </a: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Operational Cost Reduction: Annual cost savings post-deployment.</a:t>
            </a:r>
          </a:p>
          <a:p>
            <a:pPr algn="l" marL="831632" indent="-415816" lvl="1">
              <a:lnSpc>
                <a:spcPts val="5392"/>
              </a:lnSpc>
              <a:buFont typeface="Arial"/>
              <a:buChar char="•"/>
            </a:pPr>
            <a:r>
              <a:rPr lang="en-US" sz="385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24/7 Support Availability without human dependency.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181818">
                <a:alpha val="100000"/>
              </a:srgbClr>
            </a:gs>
            <a:gs pos="50000">
              <a:srgbClr val="1B103B">
                <a:alpha val="100000"/>
              </a:srgbClr>
            </a:gs>
            <a:gs pos="100000">
              <a:srgbClr val="180424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41772" y="3335121"/>
            <a:ext cx="5923179" cy="5923179"/>
          </a:xfrm>
          <a:custGeom>
            <a:avLst/>
            <a:gdLst/>
            <a:ahLst/>
            <a:cxnLst/>
            <a:rect r="r" b="b" t="t" l="l"/>
            <a:pathLst>
              <a:path h="5923179" w="5923179">
                <a:moveTo>
                  <a:pt x="0" y="0"/>
                </a:moveTo>
                <a:lnTo>
                  <a:pt x="5923180" y="0"/>
                </a:lnTo>
                <a:lnTo>
                  <a:pt x="5923180" y="5923179"/>
                </a:lnTo>
                <a:lnTo>
                  <a:pt x="0" y="59231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58631" y="3750902"/>
            <a:ext cx="7306321" cy="361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563"/>
              </a:lnSpc>
            </a:pPr>
            <a:r>
              <a:rPr lang="en-US" sz="12563">
                <a:solidFill>
                  <a:srgbClr val="FFFFFF"/>
                </a:solidFill>
                <a:latin typeface="Agrandir Grand"/>
                <a:ea typeface="Agrandir Grand"/>
                <a:cs typeface="Agrandir Grand"/>
                <a:sym typeface="Agrandir Gran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620898" y="7353657"/>
            <a:ext cx="1353433" cy="1353433"/>
          </a:xfrm>
          <a:custGeom>
            <a:avLst/>
            <a:gdLst/>
            <a:ahLst/>
            <a:cxnLst/>
            <a:rect r="r" b="b" t="t" l="l"/>
            <a:pathLst>
              <a:path h="1353433" w="1353433">
                <a:moveTo>
                  <a:pt x="0" y="0"/>
                </a:moveTo>
                <a:lnTo>
                  <a:pt x="1353434" y="0"/>
                </a:lnTo>
                <a:lnTo>
                  <a:pt x="1353434" y="1353433"/>
                </a:lnTo>
                <a:lnTo>
                  <a:pt x="0" y="13534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297615" y="1334294"/>
            <a:ext cx="5467337" cy="988957"/>
            <a:chOff x="0" y="0"/>
            <a:chExt cx="1457479" cy="2636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457479" cy="263635"/>
            </a:xfrm>
            <a:custGeom>
              <a:avLst/>
              <a:gdLst/>
              <a:ahLst/>
              <a:cxnLst/>
              <a:rect r="r" b="b" t="t" l="l"/>
              <a:pathLst>
                <a:path h="263635" w="1457479">
                  <a:moveTo>
                    <a:pt x="116115" y="0"/>
                  </a:moveTo>
                  <a:lnTo>
                    <a:pt x="1341364" y="0"/>
                  </a:lnTo>
                  <a:cubicBezTo>
                    <a:pt x="1372160" y="0"/>
                    <a:pt x="1401694" y="12233"/>
                    <a:pt x="1423470" y="34009"/>
                  </a:cubicBezTo>
                  <a:cubicBezTo>
                    <a:pt x="1445245" y="55785"/>
                    <a:pt x="1457479" y="85319"/>
                    <a:pt x="1457479" y="116115"/>
                  </a:cubicBezTo>
                  <a:lnTo>
                    <a:pt x="1457479" y="147521"/>
                  </a:lnTo>
                  <a:cubicBezTo>
                    <a:pt x="1457479" y="178316"/>
                    <a:pt x="1445245" y="207851"/>
                    <a:pt x="1423470" y="229626"/>
                  </a:cubicBezTo>
                  <a:cubicBezTo>
                    <a:pt x="1401694" y="251402"/>
                    <a:pt x="1372160" y="263635"/>
                    <a:pt x="1341364" y="263635"/>
                  </a:cubicBezTo>
                  <a:lnTo>
                    <a:pt x="116115" y="263635"/>
                  </a:lnTo>
                  <a:cubicBezTo>
                    <a:pt x="85319" y="263635"/>
                    <a:pt x="55785" y="251402"/>
                    <a:pt x="34009" y="229626"/>
                  </a:cubicBezTo>
                  <a:cubicBezTo>
                    <a:pt x="12233" y="207851"/>
                    <a:pt x="0" y="178316"/>
                    <a:pt x="0" y="147521"/>
                  </a:cubicBezTo>
                  <a:lnTo>
                    <a:pt x="0" y="116115"/>
                  </a:lnTo>
                  <a:cubicBezTo>
                    <a:pt x="0" y="85319"/>
                    <a:pt x="12233" y="55785"/>
                    <a:pt x="34009" y="34009"/>
                  </a:cubicBezTo>
                  <a:cubicBezTo>
                    <a:pt x="55785" y="12233"/>
                    <a:pt x="85319" y="0"/>
                    <a:pt x="11611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FFF">
                    <a:alpha val="5000"/>
                  </a:srgbClr>
                </a:gs>
                <a:gs pos="50000">
                  <a:srgbClr val="F1F1F1">
                    <a:alpha val="5000"/>
                  </a:srgbClr>
                </a:gs>
                <a:gs pos="100000">
                  <a:srgbClr val="F1F1F1">
                    <a:alpha val="5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457479" cy="320785"/>
            </a:xfrm>
            <a:prstGeom prst="rect">
              <a:avLst/>
            </a:prstGeom>
          </p:spPr>
          <p:txBody>
            <a:bodyPr anchor="ctr" rtlCol="false" tIns="52257" lIns="52257" bIns="52257" rIns="52257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188985" y="3548473"/>
            <a:ext cx="4553174" cy="1285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4"/>
              </a:lnSpc>
            </a:pPr>
            <a:r>
              <a:rPr lang="en-US" sz="4874" i="true">
                <a:solidFill>
                  <a:srgbClr val="A2A2A2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Presented By : Team-B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DAG7YeZADdM</dc:identifier>
  <dcterms:modified xsi:type="dcterms:W3CDTF">2011-08-01T06:04:30Z</dcterms:modified>
  <cp:revision>1</cp:revision>
  <dc:title>Purple Gradient Project Plan Presentation </dc:title>
</cp:coreProperties>
</file>